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424928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449056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73184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985248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497312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009376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1521440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2033504" y="0"/>
            <a:ext cx="0" cy="685800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400800" y="320040"/>
            <a:ext cx="5788152" cy="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400800" y="868680"/>
            <a:ext cx="5788152" cy="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400800" y="1417320"/>
            <a:ext cx="5788152" cy="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6400800" y="1965960"/>
            <a:ext cx="5788152" cy="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400800" y="2514600"/>
            <a:ext cx="5788152" cy="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400800" y="3063240"/>
            <a:ext cx="5788152" cy="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400800" y="3611880"/>
            <a:ext cx="5788152" cy="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400800" y="4160520"/>
            <a:ext cx="5788152" cy="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400800" y="4709160"/>
            <a:ext cx="5788152" cy="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400800" y="5257800"/>
            <a:ext cx="5788152" cy="0"/>
          </a:xfrm>
          <a:prstGeom prst="line">
            <a:avLst/>
          </a:prstGeom>
          <a:noFill/>
          <a:ln w="6350">
            <a:solidFill>
              <a:srgbClr val="325069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565392" y="5230368"/>
            <a:ext cx="201168" cy="576072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4974336"/>
            <a:ext cx="201168" cy="832104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24928" y="4654296"/>
            <a:ext cx="201168" cy="1152144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54696" y="4270248"/>
            <a:ext cx="201168" cy="1536192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84464" y="3694176"/>
            <a:ext cx="201168" cy="2112264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14232" y="3950208"/>
            <a:ext cx="201168" cy="1856232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0" y="3438144"/>
            <a:ext cx="201168" cy="2368296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73768" y="2862072"/>
            <a:ext cx="201168" cy="2944368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03536" y="2478024"/>
            <a:ext cx="201168" cy="3328416"/>
          </a:xfrm>
          <a:prstGeom prst="roundRect">
            <a:avLst/>
          </a:prstGeom>
          <a:solidFill>
            <a:srgbClr val="EEA23D"/>
          </a:solidFill>
          <a:ln w="12700">
            <a:solidFill>
              <a:srgbClr val="EEA23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33304" y="3182112"/>
            <a:ext cx="201168" cy="2624328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63072" y="3630168"/>
            <a:ext cx="201168" cy="2176272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292840" y="4270248"/>
            <a:ext cx="201168" cy="1536192"/>
          </a:xfrm>
          <a:prstGeom prst="roundRect">
            <a:avLst/>
          </a:prstGeom>
          <a:solidFill>
            <a:srgbClr val="2E8098"/>
          </a:solidFill>
          <a:ln w="12700">
            <a:solidFill>
              <a:srgbClr val="2E809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63840" y="960120"/>
            <a:ext cx="2834640" cy="2834640"/>
          </a:xfrm>
          <a:prstGeom prst="ellipse">
            <a:avLst/>
          </a:prstGeom>
          <a:solidFill>
            <a:srgbClr val="008F86">
              <a:alpha val="22000"/>
            </a:srgbClr>
          </a:solidFill>
          <a:ln w="12700">
            <a:solidFill>
              <a:srgbClr val="5889A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0" y="1508760"/>
            <a:ext cx="1737360" cy="1737360"/>
          </a:xfrm>
          <a:prstGeom prst="ellipse">
            <a:avLst/>
          </a:prstGeom>
          <a:solidFill>
            <a:srgbClr val="008F86">
              <a:alpha val="32000"/>
            </a:srgbClr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7512" y="585216"/>
            <a:ext cx="3154680" cy="301752"/>
          </a:xfrm>
          <a:prstGeom prst="roundRect">
            <a:avLst/>
          </a:prstGeom>
          <a:solidFill>
            <a:srgbClr val="254D57"/>
          </a:solidFill>
          <a:ln w="12700">
            <a:solidFill>
              <a:srgbClr val="254D5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" y="61264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BFEF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SCIENCE  ·  CODERHOUSE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76656" y="1490472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</a:t>
            </a:r>
            <a:endParaRPr lang="en-US" sz="4900" dirty="0"/>
          </a:p>
        </p:txBody>
      </p:sp>
      <p:sp>
        <p:nvSpPr>
          <p:cNvPr id="42" name="Text 40"/>
          <p:cNvSpPr/>
          <p:nvPr/>
        </p:nvSpPr>
        <p:spPr>
          <a:xfrm>
            <a:off x="676656" y="244144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1EA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Intelligence</a:t>
            </a:r>
            <a:endParaRPr lang="en-US" sz="3400" dirty="0"/>
          </a:p>
        </p:txBody>
      </p:sp>
      <p:sp>
        <p:nvSpPr>
          <p:cNvPr id="43" name="Shape 41"/>
          <p:cNvSpPr/>
          <p:nvPr/>
        </p:nvSpPr>
        <p:spPr>
          <a:xfrm>
            <a:off x="694944" y="3383280"/>
            <a:ext cx="4745736" cy="0"/>
          </a:xfrm>
          <a:prstGeom prst="line">
            <a:avLst/>
          </a:prstGeom>
          <a:noFill/>
          <a:ln w="38100">
            <a:solidFill>
              <a:srgbClr val="5BB6B2"/>
            </a:solidFill>
            <a:prstDash val="solid"/>
            <a:headEnd type="non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685800" y="368503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E7F1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44,3 millones de viajes a</a:t>
            </a:r>
            <a:endParaRPr lang="en-US" sz="2050" dirty="0"/>
          </a:p>
          <a:p>
            <a:pPr algn="l" indent="0" marL="0">
              <a:buNone/>
            </a:pPr>
            <a:r>
              <a:rPr lang="en-US" sz="2050" dirty="0">
                <a:solidFill>
                  <a:srgbClr val="E7F1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para planificación operativa</a:t>
            </a:r>
            <a:endParaRPr lang="en-US" sz="2050" dirty="0"/>
          </a:p>
        </p:txBody>
      </p:sp>
      <p:sp>
        <p:nvSpPr>
          <p:cNvPr id="45" name="Text 43"/>
          <p:cNvSpPr/>
          <p:nvPr/>
        </p:nvSpPr>
        <p:spPr>
          <a:xfrm>
            <a:off x="694944" y="5897880"/>
            <a:ext cx="7315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5CE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 ·  Nueva York  ·  Resultados de 6 hipótesis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4944" y="64099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1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Lucio Benítez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 EJECUTIVO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1381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demanda no es uniforme: cambia según el contexto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 Trip History (2024) · Open-Meteo · Elaboración propia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82528" y="644652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16550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2039112"/>
            <a:ext cx="5870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factores temporales, climáticos y de comportamiento asociados con la demanda horaria, para generar criterios de planificación basados en evidencia.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903720" y="1673352"/>
            <a:ext cx="2121408" cy="105156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1673352"/>
            <a:ext cx="59436" cy="1051560"/>
          </a:xfrm>
          <a:prstGeom prst="rect">
            <a:avLst/>
          </a:prstGeom>
          <a:solidFill>
            <a:srgbClr val="2C73B8"/>
          </a:solidFill>
          <a:ln w="12700">
            <a:solidFill>
              <a:srgbClr val="2C73B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23176" y="181965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44,3 M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7123176" y="2322576"/>
            <a:ext cx="1709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viajes iniciados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9208008" y="1673352"/>
            <a:ext cx="2121408" cy="105156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08008" y="1673352"/>
            <a:ext cx="59436" cy="105156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27464" y="181965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8.783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9427464" y="2322576"/>
            <a:ext cx="170992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horas locales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713232" y="4096512"/>
            <a:ext cx="10607040" cy="1380744"/>
          </a:xfrm>
          <a:prstGeom prst="roundRect">
            <a:avLst/>
          </a:prstGeom>
          <a:solidFill>
            <a:srgbClr val="10263B"/>
          </a:solidFill>
          <a:ln w="12700">
            <a:solidFill>
              <a:srgbClr val="10263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3616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130" kern="0" dirty="0">
                <a:solidFill>
                  <a:srgbClr val="80D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DE NEGOCIO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4736592"/>
            <a:ext cx="9829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anticipar períodos de mayor y menor presión de demanda sin depender únicamente de promedios generales?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594360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Audiencia: Operations Managers · Mobility Planning · Product &amp; Strategy · Data Teams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METODOLOGÍA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1381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viaje individual al patrón horario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 Trip History (2024) · Open-Meteo · Elaboración propia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82528" y="644652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67512" y="1828800"/>
            <a:ext cx="2587752" cy="2011680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20824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68680" y="25968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 2024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05409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 públicos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364992"/>
            <a:ext cx="2176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44,3 M viajes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10128" y="272491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538728" y="1828800"/>
            <a:ext cx="2587752" cy="2011680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2020824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3739896" y="25968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Preparación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39896" y="305409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Chunks de 250.000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39896" y="3364992"/>
            <a:ext cx="2176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 + filtros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81344" y="272491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9944" y="1828800"/>
            <a:ext cx="2587752" cy="2011680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2020824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6611112" y="25968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 histórico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11112" y="305409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Open-Meteo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3364992"/>
            <a:ext cx="2176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DST-aware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052560" y="272491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281160" y="1828800"/>
            <a:ext cx="2587752" cy="2011680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82328" y="2020824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500" dirty="0"/>
          </a:p>
        </p:txBody>
      </p:sp>
      <p:sp>
        <p:nvSpPr>
          <p:cNvPr id="28" name="Text 26"/>
          <p:cNvSpPr/>
          <p:nvPr/>
        </p:nvSpPr>
        <p:spPr>
          <a:xfrm>
            <a:off x="9482328" y="25968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482328" y="305409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datasets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482328" y="3364992"/>
            <a:ext cx="2176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hipótesis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4672" y="4270248"/>
            <a:ext cx="10643616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731520" y="4480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CLAVE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" y="49011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8.783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13816" y="53675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timestamps locales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71416" y="49011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4471416" y="53675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nulos en tabla principal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9016" y="49011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29.834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8129016" y="5367528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viajes sin estación excluidos sólo de H6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Y VEREDICTOS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1381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hipótesis, un único problema de negocio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 Trip History (2024) · Open-Meteo · Elaboración propia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82528" y="644652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5468112" cy="1143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1847088"/>
            <a:ext cx="557784" cy="301752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" y="1874520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508760" y="1792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Horario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21762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Picos compatibles con commuting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5148072" y="1837944"/>
            <a:ext cx="832104" cy="301752"/>
          </a:xfrm>
          <a:prstGeom prst="roundRect">
            <a:avLst/>
          </a:prstGeom>
          <a:solidFill>
            <a:srgbClr val="FCEDEE"/>
          </a:solidFill>
          <a:ln w="12700">
            <a:solidFill>
              <a:srgbClr val="FCEDE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9512" y="1865376"/>
            <a:ext cx="64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B94F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PARCIAL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510528" y="1700784"/>
            <a:ext cx="5468112" cy="1143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6832" y="1847088"/>
            <a:ext cx="557784" cy="301752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1874520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333488" y="1792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día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33488" y="21762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Curvas diferentes entre semana y fin de semana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10972800" y="1837944"/>
            <a:ext cx="832104" cy="301752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0" y="1865376"/>
            <a:ext cx="64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67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APOYADA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85800" y="3081528"/>
            <a:ext cx="5468112" cy="1143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" y="3227832"/>
            <a:ext cx="557784" cy="301752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3255264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H3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508760" y="3172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de usuario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508760" y="35570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 y casuals difieren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5148072" y="3218688"/>
            <a:ext cx="832104" cy="301752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9512" y="3246120"/>
            <a:ext cx="64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67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APOYADA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510528" y="3081528"/>
            <a:ext cx="5468112" cy="1143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56832" y="3227832"/>
            <a:ext cx="557784" cy="301752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3255264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H4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7333488" y="31729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33488" y="355701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todas las variables se comportan igual</a:t>
            </a:r>
            <a:endParaRPr lang="en-US" sz="1240" dirty="0"/>
          </a:p>
        </p:txBody>
      </p:sp>
      <p:sp>
        <p:nvSpPr>
          <p:cNvPr id="34" name="Shape 32"/>
          <p:cNvSpPr/>
          <p:nvPr/>
        </p:nvSpPr>
        <p:spPr>
          <a:xfrm>
            <a:off x="10972800" y="3218688"/>
            <a:ext cx="832104" cy="301752"/>
          </a:xfrm>
          <a:prstGeom prst="roundRect">
            <a:avLst/>
          </a:prstGeom>
          <a:solidFill>
            <a:srgbClr val="FCEDEE"/>
          </a:solidFill>
          <a:ln w="12700">
            <a:solidFill>
              <a:srgbClr val="FCEDE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64240" y="3246120"/>
            <a:ext cx="64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B94F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PARCIAL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85800" y="4462272"/>
            <a:ext cx="5468112" cy="1143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" y="4608576"/>
            <a:ext cx="557784" cy="301752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3544" y="4636008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H5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1508760" y="45537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Estacionalidad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508760" y="4937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Demanda más alta en meses cálidos</a:t>
            </a:r>
            <a:endParaRPr lang="en-US" sz="1240" dirty="0"/>
          </a:p>
        </p:txBody>
      </p:sp>
      <p:sp>
        <p:nvSpPr>
          <p:cNvPr id="41" name="Shape 39"/>
          <p:cNvSpPr/>
          <p:nvPr/>
        </p:nvSpPr>
        <p:spPr>
          <a:xfrm>
            <a:off x="5148072" y="4599432"/>
            <a:ext cx="832104" cy="301752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9512" y="4626864"/>
            <a:ext cx="64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67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APOYADA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6510528" y="4462272"/>
            <a:ext cx="5468112" cy="11430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56832" y="4608576"/>
            <a:ext cx="557784" cy="301752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4636008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H6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7333488" y="45537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7333488" y="49377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Salidas concentradas en pocos IDs</a:t>
            </a:r>
            <a:endParaRPr lang="en-US" sz="1240" dirty="0"/>
          </a:p>
        </p:txBody>
      </p:sp>
      <p:sp>
        <p:nvSpPr>
          <p:cNvPr id="48" name="Shape 46"/>
          <p:cNvSpPr/>
          <p:nvPr/>
        </p:nvSpPr>
        <p:spPr>
          <a:xfrm>
            <a:off x="10972800" y="4599432"/>
            <a:ext cx="832104" cy="301752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1064240" y="4626864"/>
            <a:ext cx="64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67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APOYADA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H1 + H2 | RITMO DE LA DEMANDA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1381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sistema, dos patrones horarios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 Trip History (2024) · Open-Meteo · Elaboración propia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82528" y="644652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pic>
        <p:nvPicPr>
          <p:cNvPr id="8" name="Image 0" descr="/mnt/data/citibike_work/h2_week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08760"/>
            <a:ext cx="7589520" cy="43708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0496" y="1700784"/>
            <a:ext cx="2880360" cy="1307592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96528" y="1874520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17:00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796528" y="2505456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12.339 viajes/h · laborables</a:t>
            </a:r>
            <a:endParaRPr lang="en-US" sz="1210" dirty="0"/>
          </a:p>
        </p:txBody>
      </p:sp>
      <p:sp>
        <p:nvSpPr>
          <p:cNvPr id="12" name="Shape 9"/>
          <p:cNvSpPr/>
          <p:nvPr/>
        </p:nvSpPr>
        <p:spPr>
          <a:xfrm>
            <a:off x="8540496" y="3145536"/>
            <a:ext cx="2880360" cy="1307592"/>
          </a:xfrm>
          <a:prstGeom prst="roundRect">
            <a:avLst/>
          </a:prstGeom>
          <a:solidFill>
            <a:srgbClr val="FFF5E8"/>
          </a:solidFill>
          <a:ln w="12700">
            <a:solidFill>
              <a:srgbClr val="FFF5E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96528" y="3337560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15:00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796528" y="3959352"/>
            <a:ext cx="23682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8.984 viajes/h · fin de semana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8577072" y="4837176"/>
            <a:ext cx="2834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posible: planificar disponibilidad y redistribución según hora y tipo de día.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H3 | MEMBER VS. CASUAL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1381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fin de semana cambia quién utiliza Citi Bike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 Trip History (2024) · Open-Meteo · Elaboración propia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82528" y="644652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609344"/>
            <a:ext cx="5486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Participación anual de viajes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0664" y="2039112"/>
            <a:ext cx="5614416" cy="649224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048256"/>
            <a:ext cx="4526280" cy="621792"/>
          </a:xfrm>
          <a:prstGeom prst="rect">
            <a:avLst/>
          </a:prstGeom>
          <a:solidFill>
            <a:srgbClr val="2C73B8"/>
          </a:solidFill>
          <a:ln w="12700">
            <a:solidFill>
              <a:srgbClr val="2C73B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76088" y="2048256"/>
            <a:ext cx="1069848" cy="621792"/>
          </a:xfrm>
          <a:prstGeom prst="rect">
            <a:avLst/>
          </a:prstGeom>
          <a:solidFill>
            <a:srgbClr val="EEA23D"/>
          </a:solidFill>
          <a:ln w="12700">
            <a:solidFill>
              <a:srgbClr val="EEA23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148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80,7 %  MEMBER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49240" y="2194560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19,3 %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" y="3017520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de viajes diarios en fin de semana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2743200" cy="1536192"/>
          </a:xfrm>
          <a:prstGeom prst="roundRect">
            <a:avLst/>
          </a:prstGeom>
          <a:solidFill>
            <a:srgbClr val="FCEDEE"/>
          </a:solidFill>
          <a:ln w="12700">
            <a:solidFill>
              <a:srgbClr val="FCED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858768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94F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−21,18 %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05840" y="4535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11880" y="3566160"/>
            <a:ext cx="2743200" cy="1536192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9624" y="385876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67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+39,14 %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3867912" y="4535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Casual</a:t>
            </a:r>
            <a:endParaRPr lang="en-US" sz="1500" dirty="0"/>
          </a:p>
        </p:txBody>
      </p:sp>
      <p:pic>
        <p:nvPicPr>
          <p:cNvPr id="21" name="Image 0" descr="/mnt/data/citibike_work/h3_seg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1696" y="1600200"/>
            <a:ext cx="5029200" cy="32461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903720" y="5001768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las 08:00, el peso relativo del perfil member es casi el doble que el casual (6,83 % vs. 3,41 %).</a:t>
            </a:r>
            <a:endParaRPr lang="en-US" sz="14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H4 | ASOCIACIÓN CON EL CLIMA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1381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Precipitación: la señal climática más clara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 Trip History (2024) · Open-Meteo · Elaboración propia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82528" y="644652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19072"/>
            <a:ext cx="3703320" cy="2194560"/>
          </a:xfrm>
          <a:prstGeom prst="roundRect">
            <a:avLst/>
          </a:prstGeom>
          <a:solidFill>
            <a:srgbClr val="10263B"/>
          </a:solidFill>
          <a:ln w="12700">
            <a:solidFill>
              <a:srgbClr val="10263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31638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79D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−32,46 %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024128" y="2788920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Demanda media con precipitación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vs. horas secas comparables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24128" y="3685032"/>
            <a:ext cx="31638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9D2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Ajuste por mes × hora × tipo de día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1728" y="1719072"/>
            <a:ext cx="6748272" cy="219456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2020824"/>
            <a:ext cx="6089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asociaciones cambian al controlar el calendario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5038344" y="2779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38344" y="306324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+0,396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247888" y="27797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VIENTO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47888" y="306324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EEA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−0,037</a:t>
            </a:r>
            <a:endParaRPr lang="en-US" sz="2300" dirty="0"/>
          </a:p>
        </p:txBody>
      </p:sp>
      <p:pic>
        <p:nvPicPr>
          <p:cNvPr id="18" name="Image 0" descr="/mnt/data/citibike_work/h4_w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4215384"/>
            <a:ext cx="9281160" cy="163677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22376" y="6035040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i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Importante: asociaciones observacionales; el ajuste temporal no identifica efectos causales.</a:t>
            </a:r>
            <a:endParaRPr lang="en-US" sz="11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H5 | ESTACIONALIDAD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1381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demanda casi se duplica entre estaciones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 Trip History (2024) · Open-Meteo · Elaboración propia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82528" y="644652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pic>
        <p:nvPicPr>
          <p:cNvPr id="8" name="Image 0" descr="/mnt/data/citibike_work/h5_month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64208"/>
            <a:ext cx="7635240" cy="4160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67928" y="1746504"/>
            <a:ext cx="2779776" cy="105156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67928" y="1746504"/>
            <a:ext cx="59436" cy="105156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87384" y="1892808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+120,8 %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8787384" y="2395728"/>
            <a:ext cx="2368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Verano vs. invierno</a:t>
            </a:r>
            <a:endParaRPr lang="en-US" sz="1170" dirty="0"/>
          </a:p>
        </p:txBody>
      </p:sp>
      <p:sp>
        <p:nvSpPr>
          <p:cNvPr id="13" name="Text 10"/>
          <p:cNvSpPr/>
          <p:nvPr/>
        </p:nvSpPr>
        <p:spPr>
          <a:xfrm>
            <a:off x="8787384" y="2578608"/>
            <a:ext cx="2368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Viajes diarios promedio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8567928" y="2990088"/>
            <a:ext cx="2779776" cy="105156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67928" y="2990088"/>
            <a:ext cx="59436" cy="1051560"/>
          </a:xfrm>
          <a:prstGeom prst="rect">
            <a:avLst/>
          </a:prstGeom>
          <a:solidFill>
            <a:srgbClr val="2C73B8"/>
          </a:solidFill>
          <a:ln w="12700">
            <a:solidFill>
              <a:srgbClr val="2C73B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87384" y="3136392"/>
            <a:ext cx="2350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166,6 mil</a:t>
            </a:r>
            <a:endParaRPr lang="en-US" sz="2850" dirty="0"/>
          </a:p>
        </p:txBody>
      </p:sp>
      <p:sp>
        <p:nvSpPr>
          <p:cNvPr id="17" name="Text 14"/>
          <p:cNvSpPr/>
          <p:nvPr/>
        </p:nvSpPr>
        <p:spPr>
          <a:xfrm>
            <a:off x="8787384" y="3639312"/>
            <a:ext cx="23682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Septiembre</a:t>
            </a:r>
            <a:endParaRPr lang="en-US" sz="1170" dirty="0"/>
          </a:p>
        </p:txBody>
      </p:sp>
      <p:sp>
        <p:nvSpPr>
          <p:cNvPr id="18" name="Text 15"/>
          <p:cNvSpPr/>
          <p:nvPr/>
        </p:nvSpPr>
        <p:spPr>
          <a:xfrm>
            <a:off x="8787384" y="3822192"/>
            <a:ext cx="2368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Máxima media diaria mensual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8567928" y="4434840"/>
            <a:ext cx="2779776" cy="1106424"/>
          </a:xfrm>
          <a:prstGeom prst="roundRect">
            <a:avLst/>
          </a:prstGeom>
          <a:solidFill>
            <a:srgbClr val="FFF5E8"/>
          </a:solidFill>
          <a:ln w="12700">
            <a:solidFill>
              <a:srgbClr val="FFF5E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96528" y="4663440"/>
            <a:ext cx="23774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EEA2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 ES VERANO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787384" y="4992624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Septiembre y octubre lideran los promedios mensuales.</a:t>
            </a:r>
            <a:endParaRPr lang="en-US" sz="12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H6 | CONCENTRACIÓN ESPACIAL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1381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mitad de las salidas proviene de 14 % de los IDs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 Trip History (2024) · Open-Meteo · Elaboración propia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82528" y="644652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pic>
        <p:nvPicPr>
          <p:cNvPr id="8" name="Image 0" descr="/mnt/data/citibike_work/h6_lorenz_valid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36192"/>
            <a:ext cx="4846320" cy="44074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25896" y="1764792"/>
            <a:ext cx="5349240" cy="1088136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27648" y="1947672"/>
            <a:ext cx="22494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7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62,44 %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668512" y="19110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salidas en el 20 % de IDs más activos</a:t>
            </a:r>
            <a:endParaRPr lang="en-US" sz="1440" dirty="0"/>
          </a:p>
        </p:txBody>
      </p:sp>
      <p:sp>
        <p:nvSpPr>
          <p:cNvPr id="12" name="Shape 9"/>
          <p:cNvSpPr/>
          <p:nvPr/>
        </p:nvSpPr>
        <p:spPr>
          <a:xfrm>
            <a:off x="6025896" y="3044952"/>
            <a:ext cx="5349240" cy="1088136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27648" y="3264408"/>
            <a:ext cx="2057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0,599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8558784" y="3227832"/>
            <a:ext cx="2514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6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Coeficiente de Gini de las salidas</a:t>
            </a:r>
            <a:endParaRPr lang="en-US" sz="1460" dirty="0"/>
          </a:p>
        </p:txBody>
      </p:sp>
      <p:sp>
        <p:nvSpPr>
          <p:cNvPr id="15" name="Shape 12"/>
          <p:cNvSpPr/>
          <p:nvPr/>
        </p:nvSpPr>
        <p:spPr>
          <a:xfrm>
            <a:off x="6025896" y="4325112"/>
            <a:ext cx="5349240" cy="1307592"/>
          </a:xfrm>
          <a:prstGeom prst="roundRect">
            <a:avLst/>
          </a:prstGeom>
          <a:solidFill>
            <a:srgbClr val="10263B"/>
          </a:solidFill>
          <a:ln w="12700">
            <a:solidFill>
              <a:srgbClr val="10263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18504" y="45354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5D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 al decidir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18504" y="4910328"/>
            <a:ext cx="4617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Alta demanda de origen ≠ falta de bicicletas. Necesitamos entradas, capacidad y disponibilidad.</a:t>
            </a:r>
            <a:endParaRPr lang="en-US" sz="13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 INTEGRADOS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813816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hallazgos a preguntas operativas accionables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594360" y="6419088"/>
            <a:ext cx="11018520" cy="0"/>
          </a:xfrm>
          <a:prstGeom prst="line">
            <a:avLst/>
          </a:prstGeom>
          <a:noFill/>
          <a:ln w="1270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40080" y="6464808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 Bike Trip History (2024) · Open-Meteo · Elaboración propia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082528" y="644652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755648"/>
            <a:ext cx="10808208" cy="1115568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" y="1929384"/>
            <a:ext cx="557784" cy="301752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1956816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1719072" y="192024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Planificar por horario</a:t>
            </a:r>
            <a:endParaRPr lang="en-US" sz="1710" dirty="0"/>
          </a:p>
        </p:txBody>
      </p:sp>
      <p:sp>
        <p:nvSpPr>
          <p:cNvPr id="12" name="Text 10"/>
          <p:cNvSpPr/>
          <p:nvPr/>
        </p:nvSpPr>
        <p:spPr>
          <a:xfrm>
            <a:off x="4636008" y="1892808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Curvas laborales y de fin de semana diferentes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754112" y="1956816"/>
            <a:ext cx="0" cy="685800"/>
          </a:xfrm>
          <a:prstGeom prst="line">
            <a:avLst/>
          </a:prstGeom>
          <a:noFill/>
          <a:ln w="1905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065008" y="190195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se producen desbalances en hora pico?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704088" y="3108960"/>
            <a:ext cx="10808208" cy="1115568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F5F8F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" y="3282696"/>
            <a:ext cx="557784" cy="301752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3310128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719072" y="3273552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Incluir contexto climático</a:t>
            </a:r>
            <a:endParaRPr lang="en-US" sz="1710" dirty="0"/>
          </a:p>
        </p:txBody>
      </p:sp>
      <p:sp>
        <p:nvSpPr>
          <p:cNvPr id="19" name="Text 17"/>
          <p:cNvSpPr/>
          <p:nvPr/>
        </p:nvSpPr>
        <p:spPr>
          <a:xfrm>
            <a:off x="4636008" y="324612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Precipitación −32,46% en grupos comparables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7754112" y="3310128"/>
            <a:ext cx="0" cy="685800"/>
          </a:xfrm>
          <a:prstGeom prst="line">
            <a:avLst/>
          </a:prstGeom>
          <a:noFill/>
          <a:ln w="1905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8065008" y="325526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¿Mejora la estimación de demanda con pronóstico?</a:t>
            </a:r>
            <a:endParaRPr lang="en-US" sz="1340" dirty="0"/>
          </a:p>
        </p:txBody>
      </p:sp>
      <p:sp>
        <p:nvSpPr>
          <p:cNvPr id="22" name="Shape 20"/>
          <p:cNvSpPr/>
          <p:nvPr/>
        </p:nvSpPr>
        <p:spPr>
          <a:xfrm>
            <a:off x="704088" y="4462272"/>
            <a:ext cx="10808208" cy="1115568"/>
          </a:xfrm>
          <a:prstGeom prst="roundRect">
            <a:avLst/>
          </a:prstGeom>
          <a:solidFill>
            <a:srgbClr val="EDF5FB"/>
          </a:solidFill>
          <a:ln w="12700">
            <a:solidFill>
              <a:srgbClr val="EDF5F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636008"/>
            <a:ext cx="557784" cy="301752"/>
          </a:xfrm>
          <a:prstGeom prst="roundRect">
            <a:avLst/>
          </a:prstGeom>
          <a:solidFill>
            <a:srgbClr val="EAF8F5"/>
          </a:solidFill>
          <a:ln w="12700">
            <a:solidFill>
              <a:srgbClr val="EAF8F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4984" y="4663440"/>
            <a:ext cx="374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08F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719072" y="4626864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10" b="1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zonas de estudio</a:t>
            </a:r>
            <a:endParaRPr lang="en-US" sz="1710" dirty="0"/>
          </a:p>
        </p:txBody>
      </p:sp>
      <p:sp>
        <p:nvSpPr>
          <p:cNvPr id="26" name="Text 24"/>
          <p:cNvSpPr/>
          <p:nvPr/>
        </p:nvSpPr>
        <p:spPr>
          <a:xfrm>
            <a:off x="4636008" y="4599432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7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20% de IDs reúne 62,44% de salidas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7754112" y="4663440"/>
            <a:ext cx="0" cy="685800"/>
          </a:xfrm>
          <a:prstGeom prst="line">
            <a:avLst/>
          </a:prstGeom>
          <a:noFill/>
          <a:ln w="19050">
            <a:solidFill>
              <a:srgbClr val="DDE5EB"/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8065008" y="4608576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10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estaciones combinan salidas altas y baja disponibilidad?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795528" y="5989320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6275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recomendación es una hipótesis operativa para probar; no una mejora demostrada.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F86"/>
          </a:solidFill>
          <a:ln w="12700">
            <a:solidFill>
              <a:srgbClr val="008F8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AD9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161288"/>
            <a:ext cx="107899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 la demanda es el primer paso.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siguiente es anticiparla.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58952" y="2862072"/>
            <a:ext cx="10524744" cy="0"/>
          </a:xfrm>
          <a:prstGeom prst="line">
            <a:avLst/>
          </a:prstGeom>
          <a:noFill/>
          <a:ln w="13970">
            <a:solidFill>
              <a:srgbClr val="416A7B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95528" y="3264408"/>
            <a:ext cx="3456432" cy="1508760"/>
          </a:xfrm>
          <a:prstGeom prst="roundRect">
            <a:avLst/>
          </a:prstGeom>
          <a:solidFill>
            <a:srgbClr val="24465A"/>
          </a:solidFill>
          <a:ln w="12700">
            <a:solidFill>
              <a:srgbClr val="24465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465576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9D9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64208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temporal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4208" y="395935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AD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 de calendario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608576" y="3264408"/>
            <a:ext cx="3456432" cy="1508760"/>
          </a:xfrm>
          <a:prstGeom prst="roundRect">
            <a:avLst/>
          </a:prstGeom>
          <a:solidFill>
            <a:srgbClr val="24465A"/>
          </a:solidFill>
          <a:ln w="12700">
            <a:solidFill>
              <a:srgbClr val="24465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3465576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9D9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77256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predictivo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77256" y="395935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AD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cronológica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421624" y="3264408"/>
            <a:ext cx="3456432" cy="1508760"/>
          </a:xfrm>
          <a:prstGeom prst="roundRect">
            <a:avLst/>
          </a:prstGeom>
          <a:solidFill>
            <a:srgbClr val="24465A"/>
          </a:solidFill>
          <a:ln w="12700">
            <a:solidFill>
              <a:srgbClr val="24465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86216" y="3465576"/>
            <a:ext cx="56692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9D9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90304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Clima incremental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290304" y="395935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CADB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Comparar contra baseline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768096" y="551383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8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futura: MAE / RMSE  ·  Sin filtraciones de información futura  ·  Interpretabilidad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6391656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EBE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Lucio Benítez  |  Citi Bike Demand Intelligence  |  GitHub: benitezlucio/citi-bike-demand-intelligence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 Bike Demand Intelligence | Resultados 2024</dc:title>
  <dc:subject>Citi Bike Demand Intelligence — presentación ejecutiva Coderhouse</dc:subject>
  <dc:creator>Lucio Benítez</dc:creator>
  <cp:lastModifiedBy>Lucio Benítez</cp:lastModifiedBy>
  <cp:revision>1</cp:revision>
  <dcterms:created xsi:type="dcterms:W3CDTF">2026-10-27T18:56:20Z</dcterms:created>
  <dcterms:modified xsi:type="dcterms:W3CDTF">2026-10-27T18:56:20Z</dcterms:modified>
</cp:coreProperties>
</file>